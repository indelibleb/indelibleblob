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6" r:id="rId2"/>
  </p:sldMasterIdLst>
  <p:notesMasterIdLst>
    <p:notesMasterId r:id="rId29"/>
  </p:notesMasterIdLst>
  <p:sldIdLst>
    <p:sldId id="608" r:id="rId3"/>
    <p:sldId id="615" r:id="rId4"/>
    <p:sldId id="595" r:id="rId5"/>
    <p:sldId id="600" r:id="rId6"/>
    <p:sldId id="602" r:id="rId7"/>
    <p:sldId id="590" r:id="rId8"/>
    <p:sldId id="257" r:id="rId9"/>
    <p:sldId id="603" r:id="rId10"/>
    <p:sldId id="566" r:id="rId11"/>
    <p:sldId id="580" r:id="rId12"/>
    <p:sldId id="583" r:id="rId13"/>
    <p:sldId id="616" r:id="rId14"/>
    <p:sldId id="585" r:id="rId15"/>
    <p:sldId id="606" r:id="rId16"/>
    <p:sldId id="581" r:id="rId17"/>
    <p:sldId id="618" r:id="rId18"/>
    <p:sldId id="591" r:id="rId19"/>
    <p:sldId id="577" r:id="rId20"/>
    <p:sldId id="597" r:id="rId21"/>
    <p:sldId id="617" r:id="rId22"/>
    <p:sldId id="584" r:id="rId23"/>
    <p:sldId id="604" r:id="rId24"/>
    <p:sldId id="607" r:id="rId25"/>
    <p:sldId id="598" r:id="rId26"/>
    <p:sldId id="619" r:id="rId27"/>
    <p:sldId id="576" r:id="rId28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5097" autoAdjust="0"/>
  </p:normalViewPr>
  <p:slideViewPr>
    <p:cSldViewPr snapToGrid="0" snapToObjects="1">
      <p:cViewPr varScale="1">
        <p:scale>
          <a:sx n="83" d="100"/>
          <a:sy n="83" d="100"/>
        </p:scale>
        <p:origin x="1603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00" d="100"/>
        <a:sy n="3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43B15B1-1D02-2545-BC79-98BA0A6B654D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3AAB0AB-9E0B-4B4E-AAD5-FA5BB0AEE9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71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7288" y="630238"/>
            <a:ext cx="2835275" cy="21256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862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7288" y="630238"/>
            <a:ext cx="2835275" cy="21256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093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293EC-7A11-FBDF-577E-C4A179BF4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4516BC-DB6E-946B-9344-A6418A87E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3CE936-6511-D92E-8B76-A483EA181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D9517-4952-5058-B0B0-9F64C40E6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AB0AB-9E0B-4B4E-AAD5-FA5BB0AEE9B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1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AB0AB-9E0B-4B4E-AAD5-FA5BB0AEE9B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59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72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60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50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69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58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14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9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39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98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784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9_Custom Layout 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002207" y="588964"/>
            <a:ext cx="4511953" cy="1676565"/>
          </a:xfrm>
        </p:spPr>
        <p:txBody>
          <a:bodyPr anchor="b">
            <a:noAutofit/>
          </a:bodyPr>
          <a:lstStyle>
            <a:lvl1pPr marL="0" indent="0">
              <a:buNone/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002207" y="2373226"/>
            <a:ext cx="4511953" cy="2212423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Picture Placeholder 20"/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3633716" cy="6858000"/>
          </a:xfrm>
          <a:solidFill>
            <a:schemeClr val="tx1">
              <a:alpha val="10000"/>
            </a:schemeClr>
          </a:solidFill>
          <a:effectLst>
            <a:outerShdw blurRad="266700" dist="88900" dir="6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9220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3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43571BB9-C3D5-5649-826C-AA9E00F98C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616091"/>
            <a:ext cx="9144000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49794A0-DDCB-D348-B6F9-30E0A824A3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1780379"/>
            <a:ext cx="8678863" cy="3846516"/>
          </a:xfrm>
        </p:spPr>
        <p:txBody>
          <a:bodyPr>
            <a:noAutofit/>
          </a:bodyPr>
          <a:lstStyle>
            <a:lvl1pPr>
              <a:buClr>
                <a:srgbClr val="E17C00"/>
              </a:buClr>
              <a:defRPr sz="1600" b="1" i="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E17C00"/>
              </a:buClr>
              <a:defRPr sz="140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E17C00"/>
              </a:buClr>
              <a:defRPr sz="120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E17C00"/>
              </a:buClr>
              <a:defRPr sz="110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E17C00"/>
              </a:buClr>
              <a:defRPr sz="110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9FDE89C4-1040-1C49-BD08-9A68345A1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942179"/>
            <a:ext cx="6724650" cy="685800"/>
          </a:xfrm>
        </p:spPr>
        <p:txBody>
          <a:bodyPr>
            <a:noAutofit/>
          </a:bodyPr>
          <a:lstStyle>
            <a:lvl1pPr algn="l">
              <a:defRPr sz="2800" b="1" i="0">
                <a:solidFill>
                  <a:srgbClr val="E17C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5AA8921-673F-2A4C-A391-3BB8747F2C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10" y="666651"/>
            <a:ext cx="6800841" cy="199329"/>
          </a:xfrm>
        </p:spPr>
        <p:txBody>
          <a:bodyPr lIns="182880" tIns="0" rIns="182880" bIns="0">
            <a:noAutofit/>
          </a:bodyPr>
          <a:lstStyle>
            <a:lvl1pPr marL="0" indent="0">
              <a:buNone/>
              <a:defRPr sz="1200" b="1" i="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4E7DD5-6FA3-BC42-A388-355466865AF7}"/>
              </a:ext>
            </a:extLst>
          </p:cNvPr>
          <p:cNvSpPr/>
          <p:nvPr userDrawn="1"/>
        </p:nvSpPr>
        <p:spPr>
          <a:xfrm>
            <a:off x="0" y="6242285"/>
            <a:ext cx="9144000" cy="609600"/>
          </a:xfrm>
          <a:prstGeom prst="rect">
            <a:avLst/>
          </a:prstGeom>
          <a:solidFill>
            <a:srgbClr val="7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rgbClr val="E0D0A6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4C421A-F30B-FF49-A84E-3F536C1840D9}"/>
              </a:ext>
            </a:extLst>
          </p:cNvPr>
          <p:cNvSpPr/>
          <p:nvPr userDrawn="1"/>
        </p:nvSpPr>
        <p:spPr>
          <a:xfrm>
            <a:off x="0" y="0"/>
            <a:ext cx="9144000" cy="121920"/>
          </a:xfrm>
          <a:prstGeom prst="rect">
            <a:avLst/>
          </a:prstGeom>
          <a:solidFill>
            <a:srgbClr val="7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rgbClr val="E0D0A6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5DBDB7A-E54C-3A4E-A687-07D300C57D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5" y="6321707"/>
            <a:ext cx="1308161" cy="436053"/>
          </a:xfrm>
          <a:prstGeom prst="rect">
            <a:avLst/>
          </a:prstGeom>
        </p:spPr>
      </p:pic>
      <p:sp>
        <p:nvSpPr>
          <p:cNvPr id="13" name="Date Placeholder 11">
            <a:extLst>
              <a:ext uri="{FF2B5EF4-FFF2-40B4-BE49-F238E27FC236}">
                <a16:creationId xmlns:a16="http://schemas.microsoft.com/office/drawing/2014/main" id="{8457EB21-A079-BB4F-B09E-8B2E41CA57E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55730" y="6357923"/>
            <a:ext cx="103107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C181DAD-4C40-F84C-8464-78DE1D7D2961}" type="datetime1">
              <a:rPr lang="en-US" smtClean="0"/>
              <a:pPr/>
              <a:t>11/19/2025</a:t>
            </a:fld>
            <a:r>
              <a:rPr lang="en-US" dirty="0"/>
              <a:t> —</a:t>
            </a:r>
          </a:p>
        </p:txBody>
      </p:sp>
      <p:sp>
        <p:nvSpPr>
          <p:cNvPr id="16" name="Slide Number Placeholder 16">
            <a:extLst>
              <a:ext uri="{FF2B5EF4-FFF2-40B4-BE49-F238E27FC236}">
                <a16:creationId xmlns:a16="http://schemas.microsoft.com/office/drawing/2014/main" id="{740F49E3-125F-C641-88E9-B2B85D95B5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478253" y="6357171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15554C-9387-4378-80C2-5F7076CAC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4">
            <a:extLst>
              <a:ext uri="{FF2B5EF4-FFF2-40B4-BE49-F238E27FC236}">
                <a16:creationId xmlns:a16="http://schemas.microsoft.com/office/drawing/2014/main" id="{79AA85DF-0C89-DE4A-8B19-97FEBB334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3366" y="6358299"/>
            <a:ext cx="2632364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 Title / Footer Content</a:t>
            </a:r>
          </a:p>
        </p:txBody>
      </p:sp>
    </p:spTree>
    <p:extLst>
      <p:ext uri="{BB962C8B-B14F-4D97-AF65-F5344CB8AC3E}">
        <p14:creationId xmlns:p14="http://schemas.microsoft.com/office/powerpoint/2010/main" val="126872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5545A5-5B76-134A-BFAC-1E244B568DBF}"/>
              </a:ext>
            </a:extLst>
          </p:cNvPr>
          <p:cNvSpPr/>
          <p:nvPr userDrawn="1"/>
        </p:nvSpPr>
        <p:spPr>
          <a:xfrm>
            <a:off x="-1072" y="0"/>
            <a:ext cx="9144000" cy="6858000"/>
          </a:xfrm>
          <a:prstGeom prst="rect">
            <a:avLst/>
          </a:prstGeom>
          <a:solidFill>
            <a:srgbClr val="E0D0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E9A0B0E8-C248-6248-BB15-F53B0677A5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2" y="0"/>
            <a:ext cx="9232730" cy="666012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FDED17B-3252-3547-910D-C9BAF563E79E}"/>
              </a:ext>
            </a:extLst>
          </p:cNvPr>
          <p:cNvSpPr/>
          <p:nvPr userDrawn="1"/>
        </p:nvSpPr>
        <p:spPr>
          <a:xfrm>
            <a:off x="-1072" y="5947981"/>
            <a:ext cx="9232730" cy="914400"/>
          </a:xfrm>
          <a:prstGeom prst="rect">
            <a:avLst/>
          </a:prstGeom>
          <a:solidFill>
            <a:srgbClr val="641E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3" name="Title 18">
            <a:extLst>
              <a:ext uri="{FF2B5EF4-FFF2-40B4-BE49-F238E27FC236}">
                <a16:creationId xmlns:a16="http://schemas.microsoft.com/office/drawing/2014/main" id="{DC0A9285-546C-824E-BB82-80DD4A7E5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8352" y="1701801"/>
            <a:ext cx="4474649" cy="1106044"/>
          </a:xfrm>
          <a:noFill/>
        </p:spPr>
        <p:txBody>
          <a:bodyPr lIns="182880" tIns="182880" rIns="182880" anchor="ctr">
            <a:noAutofit/>
          </a:bodyPr>
          <a:lstStyle>
            <a:lvl1pPr algn="l">
              <a:defRPr sz="5400" b="0" i="1" spc="0" baseline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0F22-3D51-8D47-9BDC-3F4D49D359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8351" y="3869563"/>
            <a:ext cx="4776788" cy="316356"/>
          </a:xfrm>
        </p:spPr>
        <p:txBody>
          <a:bodyPr lIns="182880" tIns="0" rIns="182880" bIns="0">
            <a:noAutofit/>
          </a:bodyPr>
          <a:lstStyle>
            <a:lvl1pPr marL="0" indent="0">
              <a:buNone/>
              <a:defRPr sz="1800" b="1" i="0">
                <a:solidFill>
                  <a:srgbClr val="E17C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EA94256D-5465-8440-ABAC-202E391CF79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848600" y="6179596"/>
            <a:ext cx="9906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C181DAD-4C40-F84C-8464-78DE1D7D2961}" type="datetime1">
              <a:rPr lang="en-US" smtClean="0"/>
              <a:pPr/>
              <a:t>11/19/2025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C429DFE-A394-F042-AFE6-A6D33E481C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50" y="5991733"/>
            <a:ext cx="2222550" cy="74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666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circle&#10;&#10;Description automatically generated">
            <a:extLst>
              <a:ext uri="{FF2B5EF4-FFF2-40B4-BE49-F238E27FC236}">
                <a16:creationId xmlns:a16="http://schemas.microsoft.com/office/drawing/2014/main" id="{64DF9C9B-5B75-5342-86A8-822E61B2A7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5449" b="8917"/>
          <a:stretch/>
        </p:blipFill>
        <p:spPr>
          <a:xfrm>
            <a:off x="0" y="2009"/>
            <a:ext cx="9144000" cy="6106692"/>
          </a:xfrm>
          <a:prstGeom prst="rect">
            <a:avLst/>
          </a:prstGeom>
          <a:solidFill>
            <a:srgbClr val="E0D0A6"/>
          </a:solidFill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702A368-B395-404A-A607-8E7ADDD27DA5}"/>
              </a:ext>
            </a:extLst>
          </p:cNvPr>
          <p:cNvSpPr/>
          <p:nvPr userDrawn="1"/>
        </p:nvSpPr>
        <p:spPr>
          <a:xfrm>
            <a:off x="-1" y="5943600"/>
            <a:ext cx="9144001" cy="914400"/>
          </a:xfrm>
          <a:prstGeom prst="rect">
            <a:avLst/>
          </a:prstGeom>
          <a:solidFill>
            <a:srgbClr val="722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itle 18">
            <a:extLst>
              <a:ext uri="{FF2B5EF4-FFF2-40B4-BE49-F238E27FC236}">
                <a16:creationId xmlns:a16="http://schemas.microsoft.com/office/drawing/2014/main" id="{DC0A9285-546C-824E-BB82-80DD4A7E5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452" y="1295729"/>
            <a:ext cx="4853268" cy="1106044"/>
          </a:xfrm>
          <a:noFill/>
        </p:spPr>
        <p:txBody>
          <a:bodyPr lIns="182880" tIns="182880" rIns="182880" anchor="ctr">
            <a:noAutofit/>
          </a:bodyPr>
          <a:lstStyle>
            <a:lvl1pPr algn="l">
              <a:defRPr sz="5400" b="0" i="1" spc="0" baseline="0">
                <a:solidFill>
                  <a:srgbClr val="72243D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0F22-3D51-8D47-9BDC-3F4D49D359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32" y="3270822"/>
            <a:ext cx="4776788" cy="316356"/>
          </a:xfrm>
        </p:spPr>
        <p:txBody>
          <a:bodyPr lIns="182880" tIns="0" rIns="182880" bIns="0">
            <a:noAutofit/>
          </a:bodyPr>
          <a:lstStyle>
            <a:lvl1pPr marL="0" indent="0">
              <a:buNone/>
              <a:defRPr sz="1800" b="1" i="0">
                <a:solidFill>
                  <a:srgbClr val="E17C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93CAE4-F456-D143-8442-5185A207F8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50" y="5991732"/>
            <a:ext cx="2222550" cy="740851"/>
          </a:xfrm>
          <a:prstGeom prst="rect">
            <a:avLst/>
          </a:prstGeom>
        </p:spPr>
      </p:pic>
      <p:sp>
        <p:nvSpPr>
          <p:cNvPr id="10" name="Date Placeholder 11">
            <a:extLst>
              <a:ext uri="{FF2B5EF4-FFF2-40B4-BE49-F238E27FC236}">
                <a16:creationId xmlns:a16="http://schemas.microsoft.com/office/drawing/2014/main" id="{3202DFA4-9C3E-914D-8EAA-C836D83D9A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848600" y="6179595"/>
            <a:ext cx="9906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C181DAD-4C40-F84C-8464-78DE1D7D2961}" type="datetime1">
              <a:rPr lang="en-US" smtClean="0"/>
              <a:pPr/>
              <a:t>11/19/2025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91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648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32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437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452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131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609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223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289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066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822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050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2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Shape&#10;&#10;Description automatically generated">
            <a:extLst>
              <a:ext uri="{FF2B5EF4-FFF2-40B4-BE49-F238E27FC236}">
                <a16:creationId xmlns:a16="http://schemas.microsoft.com/office/drawing/2014/main" id="{D805503E-E0DB-E947-AC2E-1CAADAE59E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609208"/>
            <a:ext cx="9144000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FC86A68-D218-2D46-B348-D15CF7665C20}"/>
              </a:ext>
            </a:extLst>
          </p:cNvPr>
          <p:cNvSpPr/>
          <p:nvPr userDrawn="1"/>
        </p:nvSpPr>
        <p:spPr>
          <a:xfrm>
            <a:off x="0" y="6248792"/>
            <a:ext cx="9144000" cy="609600"/>
          </a:xfrm>
          <a:prstGeom prst="rect">
            <a:avLst/>
          </a:prstGeom>
          <a:solidFill>
            <a:srgbClr val="7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E0D0A6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E61A6D-95E2-BB4B-B72D-9105111AE4F2}"/>
              </a:ext>
            </a:extLst>
          </p:cNvPr>
          <p:cNvSpPr/>
          <p:nvPr userDrawn="1"/>
        </p:nvSpPr>
        <p:spPr>
          <a:xfrm>
            <a:off x="0" y="8689"/>
            <a:ext cx="9144000" cy="121920"/>
          </a:xfrm>
          <a:prstGeom prst="rect">
            <a:avLst/>
          </a:prstGeom>
          <a:solidFill>
            <a:srgbClr val="7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E0D0A6"/>
              </a:solidFill>
            </a:endParaRPr>
          </a:p>
        </p:txBody>
      </p:sp>
      <p:sp>
        <p:nvSpPr>
          <p:cNvPr id="22" name="Title 6">
            <a:extLst>
              <a:ext uri="{FF2B5EF4-FFF2-40B4-BE49-F238E27FC236}">
                <a16:creationId xmlns:a16="http://schemas.microsoft.com/office/drawing/2014/main" id="{E5CB47AD-DA9C-5F4C-A431-84FB4D54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942179"/>
            <a:ext cx="6724650" cy="685800"/>
          </a:xfrm>
        </p:spPr>
        <p:txBody>
          <a:bodyPr>
            <a:noAutofit/>
          </a:bodyPr>
          <a:lstStyle>
            <a:lvl1pPr algn="l">
              <a:defRPr sz="2100" b="1" i="0">
                <a:solidFill>
                  <a:srgbClr val="E17C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33792010-366E-0840-BEF3-DA7A2C4985C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11" y="666652"/>
            <a:ext cx="6800841" cy="199329"/>
          </a:xfrm>
        </p:spPr>
        <p:txBody>
          <a:bodyPr lIns="182880" tIns="0" rIns="182880" bIns="0">
            <a:noAutofit/>
          </a:bodyPr>
          <a:lstStyle>
            <a:lvl1pPr marL="0" indent="0">
              <a:buNone/>
              <a:defRPr sz="900" b="1" i="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49794A0-DDCB-D348-B6F9-30E0A824A3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6539" y="1780379"/>
            <a:ext cx="8678863" cy="3846516"/>
          </a:xfrm>
        </p:spPr>
        <p:txBody>
          <a:bodyPr>
            <a:noAutofit/>
          </a:bodyPr>
          <a:lstStyle>
            <a:lvl1pPr>
              <a:buClr>
                <a:srgbClr val="E17C00"/>
              </a:buClr>
              <a:defRPr sz="1200" b="1" i="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E17C00"/>
              </a:buClr>
              <a:defRPr sz="105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E17C00"/>
              </a:buClr>
              <a:defRPr sz="90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E17C00"/>
              </a:buClr>
              <a:defRPr sz="825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E17C00"/>
              </a:buClr>
              <a:defRPr sz="825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14C8A2-40A2-FE4E-97C3-3C5579EFC9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6" y="6321708"/>
            <a:ext cx="1308161" cy="436053"/>
          </a:xfrm>
          <a:prstGeom prst="rect">
            <a:avLst/>
          </a:prstGeom>
        </p:spPr>
      </p:pic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DC067688-FF5F-2F4F-9EDD-2DEE94A49DE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55730" y="6357924"/>
            <a:ext cx="103107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C181DAD-4C40-F84C-8464-78DE1D7D2961}" type="datetime1">
              <a:rPr lang="en-US" smtClean="0"/>
              <a:pPr/>
              <a:t>11/19/2025</a:t>
            </a:fld>
            <a:r>
              <a:rPr lang="en-US" dirty="0"/>
              <a:t> —</a:t>
            </a:r>
          </a:p>
        </p:txBody>
      </p:sp>
      <p:sp>
        <p:nvSpPr>
          <p:cNvPr id="20" name="Slide Number Placeholder 16">
            <a:extLst>
              <a:ext uri="{FF2B5EF4-FFF2-40B4-BE49-F238E27FC236}">
                <a16:creationId xmlns:a16="http://schemas.microsoft.com/office/drawing/2014/main" id="{C1A1946D-6268-0F44-A7ED-FEFF8E0745C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478253" y="6357172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15554C-9387-4378-80C2-5F7076CAC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Footer Placeholder 14">
            <a:extLst>
              <a:ext uri="{FF2B5EF4-FFF2-40B4-BE49-F238E27FC236}">
                <a16:creationId xmlns:a16="http://schemas.microsoft.com/office/drawing/2014/main" id="{180245A3-9243-924E-90FC-F92BB6615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3366" y="6358300"/>
            <a:ext cx="2632364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 Title / Footer Content</a:t>
            </a:r>
          </a:p>
        </p:txBody>
      </p:sp>
    </p:spTree>
    <p:extLst>
      <p:ext uri="{BB962C8B-B14F-4D97-AF65-F5344CB8AC3E}">
        <p14:creationId xmlns:p14="http://schemas.microsoft.com/office/powerpoint/2010/main" val="169883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5545A5-5B76-134A-BFAC-1E244B568DBF}"/>
              </a:ext>
            </a:extLst>
          </p:cNvPr>
          <p:cNvSpPr/>
          <p:nvPr userDrawn="1"/>
        </p:nvSpPr>
        <p:spPr>
          <a:xfrm>
            <a:off x="-1072" y="0"/>
            <a:ext cx="9144000" cy="6858000"/>
          </a:xfrm>
          <a:prstGeom prst="rect">
            <a:avLst/>
          </a:prstGeom>
          <a:solidFill>
            <a:srgbClr val="E0D0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E9A0B0E8-C248-6248-BB15-F53B0677A5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2" y="0"/>
            <a:ext cx="9232730" cy="666012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FDED17B-3252-3547-910D-C9BAF563E79E}"/>
              </a:ext>
            </a:extLst>
          </p:cNvPr>
          <p:cNvSpPr/>
          <p:nvPr userDrawn="1"/>
        </p:nvSpPr>
        <p:spPr>
          <a:xfrm>
            <a:off x="-1072" y="5947981"/>
            <a:ext cx="9232730" cy="914400"/>
          </a:xfrm>
          <a:prstGeom prst="rect">
            <a:avLst/>
          </a:prstGeom>
          <a:solidFill>
            <a:srgbClr val="641E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3" name="Title 18">
            <a:extLst>
              <a:ext uri="{FF2B5EF4-FFF2-40B4-BE49-F238E27FC236}">
                <a16:creationId xmlns:a16="http://schemas.microsoft.com/office/drawing/2014/main" id="{DC0A9285-546C-824E-BB82-80DD4A7E5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8353" y="1701801"/>
            <a:ext cx="4474649" cy="1106044"/>
          </a:xfrm>
          <a:noFill/>
        </p:spPr>
        <p:txBody>
          <a:bodyPr lIns="182880" tIns="182880" rIns="182880" anchor="ctr">
            <a:noAutofit/>
          </a:bodyPr>
          <a:lstStyle>
            <a:lvl1pPr algn="l">
              <a:defRPr sz="4050" b="0" i="1" spc="0" baseline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0F22-3D51-8D47-9BDC-3F4D49D359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8351" y="3869563"/>
            <a:ext cx="4776788" cy="316356"/>
          </a:xfrm>
        </p:spPr>
        <p:txBody>
          <a:bodyPr lIns="182880" tIns="0" rIns="182880" bIns="0">
            <a:noAutofit/>
          </a:bodyPr>
          <a:lstStyle>
            <a:lvl1pPr marL="0" indent="0">
              <a:buNone/>
              <a:defRPr sz="1350" b="1" i="0">
                <a:solidFill>
                  <a:srgbClr val="E17C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EA94256D-5465-8440-ABAC-202E391CF79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848600" y="6179597"/>
            <a:ext cx="9906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C181DAD-4C40-F84C-8464-78DE1D7D2961}" type="datetime1">
              <a:rPr lang="en-US" smtClean="0"/>
              <a:pPr/>
              <a:t>11/19/2025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C429DFE-A394-F042-AFE6-A6D33E481C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50" y="5991734"/>
            <a:ext cx="2222550" cy="74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3B7EF891-65C2-7941-A835-F9186FB015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1"/>
          <a:stretch/>
        </p:blipFill>
        <p:spPr>
          <a:xfrm>
            <a:off x="0" y="-54015"/>
            <a:ext cx="9144000" cy="6349765"/>
          </a:xfrm>
          <a:prstGeom prst="rect">
            <a:avLst/>
          </a:prstGeom>
          <a:solidFill>
            <a:srgbClr val="72243D"/>
          </a:solidFill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FD02661-50B7-2644-AD25-BF18D12C2F96}"/>
              </a:ext>
            </a:extLst>
          </p:cNvPr>
          <p:cNvSpPr/>
          <p:nvPr userDrawn="1"/>
        </p:nvSpPr>
        <p:spPr>
          <a:xfrm>
            <a:off x="0" y="-54015"/>
            <a:ext cx="9144000" cy="120043"/>
          </a:xfrm>
          <a:prstGeom prst="rect">
            <a:avLst/>
          </a:prstGeom>
          <a:solidFill>
            <a:srgbClr val="64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E0D0A6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68EACB-552E-FB4F-821E-FE0619FCA43F}"/>
              </a:ext>
            </a:extLst>
          </p:cNvPr>
          <p:cNvSpPr/>
          <p:nvPr userDrawn="1"/>
        </p:nvSpPr>
        <p:spPr>
          <a:xfrm>
            <a:off x="0" y="6269796"/>
            <a:ext cx="9144000" cy="580648"/>
          </a:xfrm>
          <a:prstGeom prst="rect">
            <a:avLst/>
          </a:prstGeom>
          <a:solidFill>
            <a:srgbClr val="64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E0D0A6"/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25573FA-E3F0-C64D-917E-C53DF8013D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801" y="446834"/>
            <a:ext cx="4853268" cy="195459"/>
          </a:xfrm>
        </p:spPr>
        <p:txBody>
          <a:bodyPr lIns="182880" tIns="0" rIns="182880" bIns="0">
            <a:noAutofit/>
          </a:bodyPr>
          <a:lstStyle>
            <a:lvl1pPr marL="0" indent="0">
              <a:buNone/>
              <a:defRPr sz="9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itle 18">
            <a:extLst>
              <a:ext uri="{FF2B5EF4-FFF2-40B4-BE49-F238E27FC236}">
                <a16:creationId xmlns:a16="http://schemas.microsoft.com/office/drawing/2014/main" id="{06A286E5-A71A-4747-97A6-551CA12D5F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1" y="1390381"/>
            <a:ext cx="4853268" cy="1106044"/>
          </a:xfrm>
          <a:noFill/>
        </p:spPr>
        <p:txBody>
          <a:bodyPr lIns="182880" tIns="182880" rIns="182880"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4500" b="0" i="1" baseline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B44DC17-4E1C-ED4C-89BB-3BC759DD3D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800" y="3327400"/>
            <a:ext cx="3886200" cy="162560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1" indent="0">
              <a:buNone/>
              <a:defRPr>
                <a:solidFill>
                  <a:schemeClr val="bg1"/>
                </a:solidFill>
              </a:defRPr>
            </a:lvl2pPr>
            <a:lvl3pPr marL="685783" indent="0">
              <a:buNone/>
              <a:defRPr>
                <a:solidFill>
                  <a:schemeClr val="bg1"/>
                </a:solidFill>
              </a:defRPr>
            </a:lvl3pPr>
            <a:lvl4pPr marL="1028675" indent="0">
              <a:buNone/>
              <a:defRPr>
                <a:solidFill>
                  <a:schemeClr val="bg1"/>
                </a:solidFill>
              </a:defRPr>
            </a:lvl4pPr>
            <a:lvl5pPr marL="1371566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3C45041-6B40-6E46-9A99-C4FA8C056C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6" y="6321708"/>
            <a:ext cx="1308161" cy="436053"/>
          </a:xfrm>
          <a:prstGeom prst="rect">
            <a:avLst/>
          </a:prstGeom>
        </p:spPr>
      </p:pic>
      <p:sp>
        <p:nvSpPr>
          <p:cNvPr id="18" name="Date Placeholder 11">
            <a:extLst>
              <a:ext uri="{FF2B5EF4-FFF2-40B4-BE49-F238E27FC236}">
                <a16:creationId xmlns:a16="http://schemas.microsoft.com/office/drawing/2014/main" id="{D269E78C-4AD5-0242-8566-6AA14218D8B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55730" y="6357924"/>
            <a:ext cx="103107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C181DAD-4C40-F84C-8464-78DE1D7D2961}" type="datetime1">
              <a:rPr lang="en-US" smtClean="0"/>
              <a:pPr/>
              <a:t>11/19/2025</a:t>
            </a:fld>
            <a:r>
              <a:rPr lang="en-US" dirty="0"/>
              <a:t> —</a:t>
            </a:r>
          </a:p>
        </p:txBody>
      </p:sp>
      <p:sp>
        <p:nvSpPr>
          <p:cNvPr id="19" name="Slide Number Placeholder 16">
            <a:extLst>
              <a:ext uri="{FF2B5EF4-FFF2-40B4-BE49-F238E27FC236}">
                <a16:creationId xmlns:a16="http://schemas.microsoft.com/office/drawing/2014/main" id="{DCF5A638-F57D-224C-86C8-419E22CC7F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478253" y="6357172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15554C-9387-4378-80C2-5F7076CAC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 Placeholder 14">
            <a:extLst>
              <a:ext uri="{FF2B5EF4-FFF2-40B4-BE49-F238E27FC236}">
                <a16:creationId xmlns:a16="http://schemas.microsoft.com/office/drawing/2014/main" id="{A174FF33-38A3-0946-9316-AE81207B1C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3366" y="6358300"/>
            <a:ext cx="2632364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 Title / Footer Content</a:t>
            </a:r>
          </a:p>
        </p:txBody>
      </p:sp>
    </p:spTree>
    <p:extLst>
      <p:ext uri="{BB962C8B-B14F-4D97-AF65-F5344CB8AC3E}">
        <p14:creationId xmlns:p14="http://schemas.microsoft.com/office/powerpoint/2010/main" val="109478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3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43571BB9-C3D5-5649-826C-AA9E00F98C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616091"/>
            <a:ext cx="9144000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49794A0-DDCB-D348-B6F9-30E0A824A3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6539" y="1780379"/>
            <a:ext cx="8678863" cy="3846516"/>
          </a:xfrm>
        </p:spPr>
        <p:txBody>
          <a:bodyPr>
            <a:noAutofit/>
          </a:bodyPr>
          <a:lstStyle>
            <a:lvl1pPr>
              <a:buClr>
                <a:srgbClr val="E17C00"/>
              </a:buClr>
              <a:defRPr sz="1200" b="1" i="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E17C00"/>
              </a:buClr>
              <a:defRPr sz="105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E17C00"/>
              </a:buClr>
              <a:defRPr sz="90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E17C00"/>
              </a:buClr>
              <a:defRPr sz="825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E17C00"/>
              </a:buClr>
              <a:defRPr sz="825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9FDE89C4-1040-1C49-BD08-9A68345A1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942179"/>
            <a:ext cx="6724650" cy="685800"/>
          </a:xfrm>
        </p:spPr>
        <p:txBody>
          <a:bodyPr>
            <a:noAutofit/>
          </a:bodyPr>
          <a:lstStyle>
            <a:lvl1pPr algn="l">
              <a:defRPr sz="2100" b="1" i="0">
                <a:solidFill>
                  <a:srgbClr val="E17C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5AA8921-673F-2A4C-A391-3BB8747F2C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11" y="666652"/>
            <a:ext cx="6800841" cy="199329"/>
          </a:xfrm>
        </p:spPr>
        <p:txBody>
          <a:bodyPr lIns="182880" tIns="0" rIns="182880" bIns="0">
            <a:noAutofit/>
          </a:bodyPr>
          <a:lstStyle>
            <a:lvl1pPr marL="0" indent="0">
              <a:buNone/>
              <a:defRPr sz="900" b="1" i="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4E7DD5-6FA3-BC42-A388-355466865AF7}"/>
              </a:ext>
            </a:extLst>
          </p:cNvPr>
          <p:cNvSpPr/>
          <p:nvPr userDrawn="1"/>
        </p:nvSpPr>
        <p:spPr>
          <a:xfrm>
            <a:off x="0" y="6242285"/>
            <a:ext cx="9144000" cy="609600"/>
          </a:xfrm>
          <a:prstGeom prst="rect">
            <a:avLst/>
          </a:prstGeom>
          <a:solidFill>
            <a:srgbClr val="7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E0D0A6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4C421A-F30B-FF49-A84E-3F536C1840D9}"/>
              </a:ext>
            </a:extLst>
          </p:cNvPr>
          <p:cNvSpPr/>
          <p:nvPr userDrawn="1"/>
        </p:nvSpPr>
        <p:spPr>
          <a:xfrm>
            <a:off x="0" y="0"/>
            <a:ext cx="9144000" cy="121920"/>
          </a:xfrm>
          <a:prstGeom prst="rect">
            <a:avLst/>
          </a:prstGeom>
          <a:solidFill>
            <a:srgbClr val="7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E0D0A6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5DBDB7A-E54C-3A4E-A687-07D300C57D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6" y="6321708"/>
            <a:ext cx="1308161" cy="436053"/>
          </a:xfrm>
          <a:prstGeom prst="rect">
            <a:avLst/>
          </a:prstGeom>
        </p:spPr>
      </p:pic>
      <p:sp>
        <p:nvSpPr>
          <p:cNvPr id="13" name="Date Placeholder 11">
            <a:extLst>
              <a:ext uri="{FF2B5EF4-FFF2-40B4-BE49-F238E27FC236}">
                <a16:creationId xmlns:a16="http://schemas.microsoft.com/office/drawing/2014/main" id="{8457EB21-A079-BB4F-B09E-8B2E41CA57E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55730" y="6357924"/>
            <a:ext cx="103107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C181DAD-4C40-F84C-8464-78DE1D7D2961}" type="datetime1">
              <a:rPr lang="en-US" smtClean="0"/>
              <a:pPr/>
              <a:t>11/19/2025</a:t>
            </a:fld>
            <a:r>
              <a:rPr lang="en-US" dirty="0"/>
              <a:t> —</a:t>
            </a:r>
          </a:p>
        </p:txBody>
      </p:sp>
      <p:sp>
        <p:nvSpPr>
          <p:cNvPr id="16" name="Slide Number Placeholder 16">
            <a:extLst>
              <a:ext uri="{FF2B5EF4-FFF2-40B4-BE49-F238E27FC236}">
                <a16:creationId xmlns:a16="http://schemas.microsoft.com/office/drawing/2014/main" id="{740F49E3-125F-C641-88E9-B2B85D95B5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478253" y="6357172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15554C-9387-4378-80C2-5F7076CAC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4">
            <a:extLst>
              <a:ext uri="{FF2B5EF4-FFF2-40B4-BE49-F238E27FC236}">
                <a16:creationId xmlns:a16="http://schemas.microsoft.com/office/drawing/2014/main" id="{79AA85DF-0C89-DE4A-8B19-97FEBB334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3366" y="6358300"/>
            <a:ext cx="2632364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 Title / Footer Content</a:t>
            </a:r>
          </a:p>
        </p:txBody>
      </p:sp>
    </p:spTree>
    <p:extLst>
      <p:ext uri="{BB962C8B-B14F-4D97-AF65-F5344CB8AC3E}">
        <p14:creationId xmlns:p14="http://schemas.microsoft.com/office/powerpoint/2010/main" val="306951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9_Custom Layout 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002207" y="588964"/>
            <a:ext cx="4511953" cy="1676565"/>
          </a:xfrm>
        </p:spPr>
        <p:txBody>
          <a:bodyPr anchor="b">
            <a:noAutofit/>
          </a:bodyPr>
          <a:lstStyle>
            <a:lvl1pPr marL="0" indent="0">
              <a:buNone/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002207" y="2373226"/>
            <a:ext cx="4511953" cy="2212423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Picture Placeholder 20"/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3633716" cy="6858000"/>
          </a:xfrm>
          <a:solidFill>
            <a:schemeClr val="tx1">
              <a:alpha val="10000"/>
            </a:schemeClr>
          </a:solidFill>
          <a:effectLst>
            <a:outerShdw blurRad="266700" dist="88900" dir="6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8458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7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  <p:sldLayoutId id="2147483665" r:id="rId14"/>
    <p:sldLayoutId id="2147483683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FFEC9-D727-724B-9F30-D58532F69E71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A0E4E-8A69-084D-B2A1-23E1362D2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5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-i0UugILBJg" TargetMode="External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-i0UugILBJg?feature=oembed" TargetMode="Externa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FBF534DD-7D92-4D2F-90B8-4B872CAEFD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12365" y="3320837"/>
            <a:ext cx="4419600" cy="547970"/>
          </a:xfrm>
        </p:spPr>
        <p:txBody>
          <a:bodyPr vert="horz" lIns="182880" tIns="0" rIns="182880" bIns="0" rtlCol="0" anchor="t">
            <a:noAutofit/>
          </a:bodyPr>
          <a:lstStyle/>
          <a:p>
            <a:pPr>
              <a:spcBef>
                <a:spcPts val="450"/>
              </a:spcBef>
            </a:pPr>
            <a:r>
              <a:rPr lang="en-US" sz="3600" dirty="0">
                <a:solidFill>
                  <a:srgbClr val="FFFFFF"/>
                </a:solidFill>
                <a:latin typeface="Calibri Light" panose="020F0302020204030204"/>
                <a:ea typeface="+mj-ea"/>
                <a:cs typeface="+mj-cs"/>
              </a:rPr>
              <a:t>Startup Starter</a:t>
            </a:r>
          </a:p>
          <a:p>
            <a:pPr>
              <a:spcBef>
                <a:spcPts val="450"/>
              </a:spcBef>
            </a:pPr>
            <a:r>
              <a:rPr lang="en-US" i="1" dirty="0"/>
              <a:t>Launch Your Startup: From Idea to Market Value</a:t>
            </a:r>
            <a:endParaRPr lang="en-US" sz="3600" dirty="0">
              <a:solidFill>
                <a:srgbClr val="FFFFFF"/>
              </a:solidFill>
              <a:latin typeface="Calibri Light" panose="020F0302020204030204"/>
              <a:ea typeface="+mj-ea"/>
              <a:cs typeface="+mj-cs"/>
            </a:endParaRPr>
          </a:p>
          <a:p>
            <a:pPr>
              <a:spcBef>
                <a:spcPts val="450"/>
              </a:spcBef>
            </a:pPr>
            <a:r>
              <a:rPr lang="en-US" sz="3600" dirty="0">
                <a:solidFill>
                  <a:srgbClr val="FFFFFF"/>
                </a:solidFill>
                <a:latin typeface="Calibri Light" panose="020F0302020204030204"/>
                <a:ea typeface="+mj-ea"/>
                <a:cs typeface="+mj-cs"/>
              </a:rPr>
              <a:t>Dr. Erik Guzik</a:t>
            </a:r>
            <a:endParaRPr lang="en-US" sz="16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026" name="Picture 2" descr="Whitefish Credit Union">
            <a:extLst>
              <a:ext uri="{FF2B5EF4-FFF2-40B4-BE49-F238E27FC236}">
                <a16:creationId xmlns:a16="http://schemas.microsoft.com/office/drawing/2014/main" id="{014E654F-A21F-4D8A-901D-987650409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049" y="857250"/>
            <a:ext cx="5057951" cy="2236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809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C9A1E-AF63-1DAE-78CF-6605B7628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568" y="227171"/>
            <a:ext cx="6724650" cy="514350"/>
          </a:xfrm>
        </p:spPr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16147-30CB-7BAE-AC0E-1E8C267EB3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1731" y="757159"/>
            <a:ext cx="8678863" cy="4011416"/>
          </a:xfrm>
        </p:spPr>
        <p:txBody>
          <a:bodyPr/>
          <a:lstStyle/>
          <a:p>
            <a:r>
              <a:rPr lang="en-US" sz="2000" dirty="0"/>
              <a:t>Week 1 – Nov 12:</a:t>
            </a:r>
            <a:r>
              <a:rPr lang="en-US" sz="2000" b="0" dirty="0"/>
              <a:t> </a:t>
            </a:r>
            <a:r>
              <a:rPr lang="en-US" sz="2000" b="0" i="1" dirty="0"/>
              <a:t>Finding Your Idea or Opportunity</a:t>
            </a:r>
            <a:br>
              <a:rPr lang="en-US" sz="2000" b="0" dirty="0"/>
            </a:br>
            <a:r>
              <a:rPr lang="en-US" sz="2000" b="0" dirty="0"/>
              <a:t>  Discover how to spot market gaps and refine your business concept.</a:t>
            </a:r>
          </a:p>
          <a:p>
            <a:r>
              <a:rPr lang="en-US" sz="2000" dirty="0"/>
              <a:t>Week 2 – Nov 19:</a:t>
            </a:r>
            <a:r>
              <a:rPr lang="en-US" sz="2000" b="0" dirty="0"/>
              <a:t> </a:t>
            </a:r>
            <a:r>
              <a:rPr lang="en-US" sz="2000" b="0" i="1" dirty="0"/>
              <a:t>Testing Your Idea (Customer Development)</a:t>
            </a:r>
            <a:br>
              <a:rPr lang="en-US" sz="2000" b="0" dirty="0"/>
            </a:br>
            <a:r>
              <a:rPr lang="en-US" sz="2000" b="0" dirty="0"/>
              <a:t>  Learn how to validate your idea through real-world feedback.</a:t>
            </a:r>
          </a:p>
          <a:p>
            <a:r>
              <a:rPr lang="en-US" sz="2000" u="sng" dirty="0"/>
              <a:t>Week 3 –  Tues, Nov 25</a:t>
            </a:r>
            <a:r>
              <a:rPr lang="en-US" sz="2000" dirty="0"/>
              <a:t>: </a:t>
            </a:r>
            <a:r>
              <a:rPr lang="en-US" sz="2000" b="0" i="1" dirty="0"/>
              <a:t>Reaching Your Customers (Marketing &amp; Sales)</a:t>
            </a:r>
            <a:br>
              <a:rPr lang="en-US" sz="2000" b="0" dirty="0"/>
            </a:br>
            <a:r>
              <a:rPr lang="en-US" sz="2000" b="0" dirty="0"/>
              <a:t>  Build a marketing plan that connects your product with your audience.</a:t>
            </a:r>
          </a:p>
          <a:p>
            <a:r>
              <a:rPr lang="en-US" sz="2000" dirty="0"/>
              <a:t>Week 4 –  Dec 3:</a:t>
            </a:r>
            <a:r>
              <a:rPr lang="en-US" sz="2000" b="0" dirty="0"/>
              <a:t> </a:t>
            </a:r>
            <a:r>
              <a:rPr lang="en-US" sz="2000" b="0" i="1" dirty="0"/>
              <a:t>Your Business Model &amp; Financials</a:t>
            </a:r>
          </a:p>
          <a:p>
            <a:pPr marL="0" indent="0">
              <a:buNone/>
            </a:pPr>
            <a:r>
              <a:rPr lang="en-US" sz="2000" b="0" i="1" dirty="0"/>
              <a:t>	</a:t>
            </a:r>
            <a:r>
              <a:rPr lang="en-US" sz="2000" b="0" dirty="0"/>
              <a:t>Design a business model that works and understand the numbers behind it.</a:t>
            </a:r>
          </a:p>
          <a:p>
            <a:r>
              <a:rPr lang="en-US" sz="2000" dirty="0"/>
              <a:t>Week 5 – Dec 10:</a:t>
            </a:r>
            <a:r>
              <a:rPr lang="en-US" sz="2000" b="0" dirty="0"/>
              <a:t> </a:t>
            </a:r>
            <a:r>
              <a:rPr lang="en-US" sz="2000" b="0" i="1" dirty="0"/>
              <a:t>Pitching Your Idea</a:t>
            </a:r>
            <a:endParaRPr lang="en-US" sz="2000" b="0" dirty="0"/>
          </a:p>
          <a:p>
            <a:pPr marL="0" indent="0">
              <a:buNone/>
            </a:pPr>
            <a:r>
              <a:rPr lang="en-US" sz="2000" b="0" dirty="0"/>
              <a:t>	Create your pitch deck and practice your delivery.</a:t>
            </a:r>
          </a:p>
          <a:p>
            <a:pPr marL="0" indent="0">
              <a:buNone/>
            </a:pPr>
            <a:endParaRPr lang="en-US" sz="2000" b="0" dirty="0"/>
          </a:p>
          <a:p>
            <a:r>
              <a:rPr lang="en-US" sz="2000" dirty="0"/>
              <a:t>Final Event – Thurs, Dec 11:</a:t>
            </a:r>
            <a:r>
              <a:rPr lang="en-US" sz="2000" b="0" dirty="0"/>
              <a:t> </a:t>
            </a:r>
            <a:r>
              <a:rPr lang="en-US" sz="2000" b="0" i="1" dirty="0"/>
              <a:t>Pitch Showcase to small group of </a:t>
            </a:r>
          </a:p>
          <a:p>
            <a:pPr marL="0" indent="0">
              <a:buNone/>
            </a:pPr>
            <a:r>
              <a:rPr lang="en-US" sz="2000" b="0" i="1" dirty="0"/>
              <a:t>        decision-makers @ WCU</a:t>
            </a:r>
            <a:endParaRPr lang="en-US" sz="2000" b="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93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78D22D-62DD-33ED-E570-E6E7DDAD2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21" y="403991"/>
            <a:ext cx="7869494" cy="548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923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D9A07C-8A55-CCD6-7465-3CD1AE868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95" y="474772"/>
            <a:ext cx="8106147" cy="557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06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B5A13B-8F46-0115-3588-E23CC6CA4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602"/>
            <a:ext cx="8934311" cy="612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81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693AF14-FA1E-6958-BEEF-A7FC397A2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37" y="2016076"/>
            <a:ext cx="7517726" cy="16527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DF4375-94D9-0913-5F58-832DEE63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942179"/>
            <a:ext cx="672465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Development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795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FBF534DD-7D92-4D2F-90B8-4B872CAEFD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06" y="861015"/>
            <a:ext cx="6463012" cy="1605454"/>
          </a:xfrm>
        </p:spPr>
        <p:txBody>
          <a:bodyPr>
            <a:noAutofit/>
          </a:bodyPr>
          <a:lstStyle/>
          <a:p>
            <a:pPr>
              <a:spcBef>
                <a:spcPts val="450"/>
              </a:spcBef>
            </a:pPr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Verifying Need for Your Idea (Demand)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49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E1A6E45-723A-0490-A464-1F0770437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93" y="291921"/>
            <a:ext cx="4347851" cy="338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undefined">
            <a:extLst>
              <a:ext uri="{FF2B5EF4-FFF2-40B4-BE49-F238E27FC236}">
                <a16:creationId xmlns:a16="http://schemas.microsoft.com/office/drawing/2014/main" id="{4D56B5B8-0864-0210-AE09-DA326F3B6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947" y="3429000"/>
            <a:ext cx="4691745" cy="3313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19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Yves Behar's Juicero juicer has its reputation shredded by social media">
            <a:extLst>
              <a:ext uri="{FF2B5EF4-FFF2-40B4-BE49-F238E27FC236}">
                <a16:creationId xmlns:a16="http://schemas.microsoft.com/office/drawing/2014/main" id="{CB8CB4FA-845D-6488-4C0A-772BAA3C1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11" y="381288"/>
            <a:ext cx="4586838" cy="327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queezed out: widely mocked startup Juicero is shutting down | Silicon  Valley | The Guardian">
            <a:extLst>
              <a:ext uri="{FF2B5EF4-FFF2-40B4-BE49-F238E27FC236}">
                <a16:creationId xmlns:a16="http://schemas.microsoft.com/office/drawing/2014/main" id="{E2527C9D-42E1-C265-566E-CD0F121AC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782" y="3026411"/>
            <a:ext cx="3648364" cy="364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37C891-C3C3-8AE7-9153-FFD7F65043BE}"/>
              </a:ext>
            </a:extLst>
          </p:cNvPr>
          <p:cNvSpPr txBox="1"/>
          <p:nvPr/>
        </p:nvSpPr>
        <p:spPr>
          <a:xfrm>
            <a:off x="679031" y="4066788"/>
            <a:ext cx="332764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u="sng" dirty="0"/>
              <a:t>PROS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Healthy (market trend)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Sleek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Wi-fi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Mobile app (QR code)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Raised $120M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398960-0EA8-8A44-DCD0-72C93FAF0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856" y="183225"/>
            <a:ext cx="3279533" cy="77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1FB055-5977-EA97-4FD0-5ACAA763E962}"/>
              </a:ext>
            </a:extLst>
          </p:cNvPr>
          <p:cNvSpPr txBox="1"/>
          <p:nvPr/>
        </p:nvSpPr>
        <p:spPr>
          <a:xfrm>
            <a:off x="5056449" y="1216728"/>
            <a:ext cx="40178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Purpose</a:t>
            </a:r>
            <a:r>
              <a:rPr lang="en-US" sz="2000" dirty="0"/>
              <a:t>: Quick and easy juicer</a:t>
            </a:r>
          </a:p>
          <a:p>
            <a:r>
              <a:rPr lang="en-US" sz="2000" b="1" dirty="0"/>
              <a:t>Product</a:t>
            </a:r>
            <a:r>
              <a:rPr lang="en-US" sz="2000" dirty="0"/>
              <a:t>: Like Keurig, but for juice.</a:t>
            </a:r>
          </a:p>
          <a:p>
            <a:r>
              <a:rPr lang="en-US" sz="2000" b="1" dirty="0"/>
              <a:t>User</a:t>
            </a:r>
            <a:r>
              <a:rPr lang="en-US" sz="2000" dirty="0"/>
              <a:t>: Health-conscious consumers, who really, really like fresh juice</a:t>
            </a:r>
          </a:p>
        </p:txBody>
      </p:sp>
    </p:spTree>
    <p:extLst>
      <p:ext uri="{BB962C8B-B14F-4D97-AF65-F5344CB8AC3E}">
        <p14:creationId xmlns:p14="http://schemas.microsoft.com/office/powerpoint/2010/main" val="2537428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F049132-2B5F-DEEB-2CC3-2A9072BFB128}"/>
              </a:ext>
            </a:extLst>
          </p:cNvPr>
          <p:cNvSpPr txBox="1"/>
          <p:nvPr/>
        </p:nvSpPr>
        <p:spPr>
          <a:xfrm>
            <a:off x="1289989" y="6169925"/>
            <a:ext cx="6553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https://www.youtube.com/watch?v=-i0UugILBJg</a:t>
            </a:r>
            <a:endParaRPr lang="en-US" dirty="0"/>
          </a:p>
        </p:txBody>
      </p:sp>
      <p:pic>
        <p:nvPicPr>
          <p:cNvPr id="3" name="Online Media 2" title="Get Started with Your Juicero Press - iOS">
            <a:hlinkClick r:id="" action="ppaction://media"/>
            <a:extLst>
              <a:ext uri="{FF2B5EF4-FFF2-40B4-BE49-F238E27FC236}">
                <a16:creationId xmlns:a16="http://schemas.microsoft.com/office/drawing/2014/main" id="{09955DCA-04A3-335C-5568-49CAD770DB6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22454" y="318866"/>
            <a:ext cx="8573914" cy="484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33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ilicon Valley invested $120 million in a $400 juicer that works as well as  your hands - Vox">
            <a:extLst>
              <a:ext uri="{FF2B5EF4-FFF2-40B4-BE49-F238E27FC236}">
                <a16:creationId xmlns:a16="http://schemas.microsoft.com/office/drawing/2014/main" id="{3C68BE93-3805-3C38-9557-8469AF2BE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482" y="120072"/>
            <a:ext cx="4251036" cy="425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460AE0-91F8-C6B5-565D-AB1F71FB9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08" y="4638457"/>
            <a:ext cx="7533533" cy="7511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39BF6A-F005-C322-80FE-4A0E33341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508" y="5656983"/>
            <a:ext cx="740092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9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94CE4-1DBC-2F3E-925D-98DD12CA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y Apple's Newton Flopped (Will ...">
            <a:extLst>
              <a:ext uri="{FF2B5EF4-FFF2-40B4-BE49-F238E27FC236}">
                <a16:creationId xmlns:a16="http://schemas.microsoft.com/office/drawing/2014/main" id="{596D81C5-B4EF-72F7-CDB8-E8883A78F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763153"/>
            <a:ext cx="9127095" cy="511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8546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3AFC784-741C-398D-3A32-A31A02E69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150" y="952670"/>
            <a:ext cx="6408850" cy="454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ropbox Subfolders - UpdraftPlus">
            <a:extLst>
              <a:ext uri="{FF2B5EF4-FFF2-40B4-BE49-F238E27FC236}">
                <a16:creationId xmlns:a16="http://schemas.microsoft.com/office/drawing/2014/main" id="{20CF3DBB-9805-27C6-86A6-4D2799035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10" y="1221365"/>
            <a:ext cx="2584017" cy="258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224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45404E-0489-ADFC-E442-A5A2097C5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659" y="1575073"/>
            <a:ext cx="6848475" cy="225742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EC4D4C1-B0F6-BD1C-16C0-C846DE836298}"/>
              </a:ext>
            </a:extLst>
          </p:cNvPr>
          <p:cNvSpPr txBox="1">
            <a:spLocks/>
          </p:cNvSpPr>
          <p:nvPr/>
        </p:nvSpPr>
        <p:spPr>
          <a:xfrm>
            <a:off x="-371764" y="711270"/>
            <a:ext cx="6724650" cy="685800"/>
          </a:xfrm>
          <a:prstGeom prst="rect">
            <a:avLst/>
          </a:prstGeom>
        </p:spPr>
        <p:txBody>
          <a:bodyPr>
            <a:normAutofit fontScale="5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E17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Development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07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693AF14-FA1E-6958-BEEF-A7FC397A2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00" y="1545021"/>
            <a:ext cx="7517726" cy="16527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6E523E-243E-5088-E705-D42C9FF58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83" y="3379017"/>
            <a:ext cx="7517726" cy="24780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DC5451-4157-6D69-4B8E-EC346097A59C}"/>
              </a:ext>
            </a:extLst>
          </p:cNvPr>
          <p:cNvSpPr txBox="1">
            <a:spLocks/>
          </p:cNvSpPr>
          <p:nvPr/>
        </p:nvSpPr>
        <p:spPr>
          <a:xfrm>
            <a:off x="-371764" y="711270"/>
            <a:ext cx="6724650" cy="685800"/>
          </a:xfrm>
          <a:prstGeom prst="rect">
            <a:avLst/>
          </a:prstGeom>
        </p:spPr>
        <p:txBody>
          <a:bodyPr>
            <a:normAutofit fontScale="5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E17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&lt; &gt; Customer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69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e Mom Test Summary of Key Ideas and Review | Rob Fitzpatrick - Blinkist">
            <a:extLst>
              <a:ext uri="{FF2B5EF4-FFF2-40B4-BE49-F238E27FC236}">
                <a16:creationId xmlns:a16="http://schemas.microsoft.com/office/drawing/2014/main" id="{FBCE3772-EC9F-045C-463B-FF971DAFF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727" y="11544"/>
            <a:ext cx="6881091" cy="688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355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63DE6-95C6-6943-7ABF-45AA9FE804C9}"/>
              </a:ext>
            </a:extLst>
          </p:cNvPr>
          <p:cNvSpPr txBox="1"/>
          <p:nvPr/>
        </p:nvSpPr>
        <p:spPr>
          <a:xfrm>
            <a:off x="527757" y="800303"/>
            <a:ext cx="7988662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  <a:latin typeface="Neue Helvetica W01"/>
              </a:rPr>
              <a:t>CRITICAL STEP:  “Talking to humans.”  Get out of the building.</a:t>
            </a:r>
          </a:p>
          <a:p>
            <a:endParaRPr lang="en-US" sz="2400" dirty="0">
              <a:solidFill>
                <a:srgbClr val="424242"/>
              </a:solidFill>
              <a:latin typeface="Neue Helvetica W01"/>
            </a:endParaRPr>
          </a:p>
          <a:p>
            <a:r>
              <a:rPr lang="en-US" sz="2400" dirty="0">
                <a:solidFill>
                  <a:srgbClr val="424242"/>
                </a:solidFill>
                <a:latin typeface="Neue Helvetica W01"/>
              </a:rPr>
              <a:t>R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Neue Helvetica W01"/>
              </a:rPr>
              <a:t>esearch the Idea.  Validate the </a:t>
            </a:r>
            <a:r>
              <a:rPr lang="en-US" sz="2400" dirty="0">
                <a:solidFill>
                  <a:srgbClr val="424242"/>
                </a:solidFill>
                <a:latin typeface="Neue Helvetica W01"/>
              </a:rPr>
              <a:t>Idea.</a:t>
            </a:r>
            <a:endParaRPr lang="en-US" sz="2400" b="0" i="0" dirty="0">
              <a:solidFill>
                <a:srgbClr val="424242"/>
              </a:solidFill>
              <a:effectLst/>
              <a:latin typeface="Neue Helvetica W01"/>
            </a:endParaRPr>
          </a:p>
          <a:p>
            <a:endParaRPr lang="en-US" sz="2400" b="0" i="0" dirty="0">
              <a:solidFill>
                <a:srgbClr val="424242"/>
              </a:solidFill>
              <a:effectLst/>
              <a:latin typeface="Neue Helvetica W01"/>
            </a:endParaRPr>
          </a:p>
          <a:p>
            <a:pPr lvl="1"/>
            <a:r>
              <a:rPr lang="en-US" sz="2400" dirty="0">
                <a:solidFill>
                  <a:srgbClr val="424242"/>
                </a:solidFill>
                <a:latin typeface="Neue Helvetica W01"/>
              </a:rPr>
              <a:t>A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Neue Helvetica W01"/>
              </a:rPr>
              <a:t>sk potential users (future customers) questions:</a:t>
            </a:r>
          </a:p>
          <a:p>
            <a:pPr lvl="1"/>
            <a:endParaRPr lang="en-US" sz="2400" b="0" i="0" dirty="0">
              <a:solidFill>
                <a:srgbClr val="424242"/>
              </a:solidFill>
              <a:effectLst/>
              <a:latin typeface="Neue Helvetica W01"/>
            </a:endParaRPr>
          </a:p>
          <a:p>
            <a:pPr marL="1485900" lvl="2" indent="-571500">
              <a:buFont typeface="+mj-lt"/>
              <a:buAutoNum type="romanLcPeriod"/>
            </a:pPr>
            <a:r>
              <a:rPr lang="en-US" sz="2400" dirty="0">
                <a:solidFill>
                  <a:srgbClr val="424242"/>
                </a:solidFill>
                <a:latin typeface="Neue Helvetica W01"/>
              </a:rPr>
              <a:t>Problems they face</a:t>
            </a:r>
          </a:p>
          <a:p>
            <a:pPr marL="1485900" lvl="2" indent="-571500">
              <a:buFont typeface="+mj-lt"/>
              <a:buAutoNum type="romanLcPeriod"/>
            </a:pPr>
            <a:r>
              <a:rPr lang="en-US" sz="2400" dirty="0">
                <a:solidFill>
                  <a:srgbClr val="424242"/>
                </a:solidFill>
                <a:latin typeface="Neue Helvetica W01"/>
              </a:rPr>
              <a:t>P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Neue Helvetica W01"/>
              </a:rPr>
              <a:t>roducts they like and don’t like</a:t>
            </a:r>
          </a:p>
          <a:p>
            <a:pPr marL="1485900" lvl="2" indent="-571500">
              <a:buFont typeface="+mj-lt"/>
              <a:buAutoNum type="romanLcPeriod"/>
            </a:pPr>
            <a:r>
              <a:rPr lang="en-US" sz="2400" dirty="0">
                <a:solidFill>
                  <a:srgbClr val="424242"/>
                </a:solidFill>
                <a:latin typeface="Neue Helvetica W01"/>
              </a:rPr>
              <a:t>H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Neue Helvetica W01"/>
              </a:rPr>
              <a:t>ow a product or service could be improved</a:t>
            </a:r>
          </a:p>
          <a:p>
            <a:pPr marL="1485900" lvl="2" indent="-571500">
              <a:buFont typeface="+mj-lt"/>
              <a:buAutoNum type="romanLcPeriod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Neue Helvetica W01"/>
              </a:rPr>
              <a:t>Solutions customers now use</a:t>
            </a:r>
          </a:p>
          <a:p>
            <a:pPr marL="1485900" lvl="2" indent="-571500">
              <a:buFont typeface="+mj-lt"/>
              <a:buAutoNum type="romanLcPeriod"/>
            </a:pPr>
            <a:r>
              <a:rPr lang="en-US" sz="2400" dirty="0">
                <a:solidFill>
                  <a:srgbClr val="424242"/>
                </a:solidFill>
                <a:latin typeface="Neue Helvetica W01"/>
              </a:rPr>
              <a:t>Feedback on your MVP</a:t>
            </a:r>
          </a:p>
          <a:p>
            <a:pPr marL="1485900" lvl="2" indent="-571500">
              <a:buFont typeface="+mj-lt"/>
              <a:buAutoNum type="romanLcPeriod"/>
            </a:pPr>
            <a:r>
              <a:rPr lang="en-US" sz="2400" dirty="0">
                <a:solidFill>
                  <a:srgbClr val="424242"/>
                </a:solidFill>
                <a:latin typeface="Neue Helvetica W01"/>
              </a:rPr>
              <a:t>What surprised you (</a:t>
            </a:r>
            <a:r>
              <a:rPr lang="en-US" sz="2400" b="1" u="sng" dirty="0">
                <a:solidFill>
                  <a:srgbClr val="424242"/>
                </a:solidFill>
                <a:latin typeface="Neue Helvetica W01"/>
              </a:rPr>
              <a:t>the unexpected</a:t>
            </a:r>
            <a:r>
              <a:rPr lang="en-US" sz="2400" dirty="0">
                <a:solidFill>
                  <a:srgbClr val="424242"/>
                </a:solidFill>
                <a:latin typeface="Neue Helvetica W01"/>
              </a:rPr>
              <a:t>).</a:t>
            </a:r>
            <a:endParaRPr lang="en-US" sz="24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82805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66DA54E-CBD0-6598-4308-074DEDACC62C}"/>
              </a:ext>
            </a:extLst>
          </p:cNvPr>
          <p:cNvSpPr txBox="1"/>
          <p:nvPr/>
        </p:nvSpPr>
        <p:spPr>
          <a:xfrm>
            <a:off x="571641" y="786534"/>
            <a:ext cx="800071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Minimum viable product (MVP)</a:t>
            </a:r>
            <a:r>
              <a:rPr lang="en-US" sz="2000" dirty="0"/>
              <a:t>: A very early (and inexpensive) model or prototype of a product.</a:t>
            </a:r>
            <a:r>
              <a:rPr lang="en-US" sz="2000" u="sng" baseline="30000" dirty="0"/>
              <a:t> </a:t>
            </a:r>
          </a:p>
          <a:p>
            <a:endParaRPr lang="en-US" u="sng" baseline="30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Bare minimum to help people understand what the product is about.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 actual product isn’t even required; can be represented in sketches, videos, and explanations of how it might look or work.</a:t>
            </a:r>
          </a:p>
          <a:p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Example: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Zappos started with photos on a webpage.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Dropbox didn’t even begin with an app—they posted a video of what the app would do.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Spotify started with a sketch.</a:t>
            </a:r>
          </a:p>
        </p:txBody>
      </p:sp>
    </p:spTree>
    <p:extLst>
      <p:ext uri="{BB962C8B-B14F-4D97-AF65-F5344CB8AC3E}">
        <p14:creationId xmlns:p14="http://schemas.microsoft.com/office/powerpoint/2010/main" val="389052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CB88C9-E763-0D00-A178-A7CEB239E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85AAC-C508-6F54-336B-5B7014586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almPilot wooden model - CHM Revolution">
            <a:extLst>
              <a:ext uri="{FF2B5EF4-FFF2-40B4-BE49-F238E27FC236}">
                <a16:creationId xmlns:a16="http://schemas.microsoft.com/office/drawing/2014/main" id="{82392971-AD28-BF34-A813-721F6817B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26" y="222394"/>
            <a:ext cx="6443880" cy="527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024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E0099-846F-F024-5891-135CC990A072}"/>
              </a:ext>
            </a:extLst>
          </p:cNvPr>
          <p:cNvSpPr txBox="1"/>
          <p:nvPr/>
        </p:nvSpPr>
        <p:spPr>
          <a:xfrm>
            <a:off x="461890" y="604629"/>
            <a:ext cx="8072438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very basic version of the product, like the LinkedIn or Moodle web applications, which were </a:t>
            </a:r>
            <a:r>
              <a:rPr lang="en-US" sz="2400" b="1" u="sng" dirty="0"/>
              <a:t>really, really bad</a:t>
            </a:r>
            <a:r>
              <a:rPr lang="en-US" sz="2400" dirty="0"/>
              <a:t>. 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basic product to show to potential users, with enough substance to elicit feedback on what people find useful (NEED) and what attributes are important without having to invest a lot of money and time.</a:t>
            </a:r>
          </a:p>
          <a:p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5C1C66-D62A-DFAB-DF1D-CE935996B8E6}"/>
              </a:ext>
            </a:extLst>
          </p:cNvPr>
          <p:cNvSpPr txBox="1"/>
          <p:nvPr/>
        </p:nvSpPr>
        <p:spPr>
          <a:xfrm>
            <a:off x="541315" y="4011866"/>
            <a:ext cx="756260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There is no right or wrong type of MVP.  Purpose: Test idea to find out if there is demand for your solution, and how to take the idea to the next level.</a:t>
            </a:r>
            <a:endParaRPr lang="en-US" sz="2800" b="1" i="0" dirty="0">
              <a:solidFill>
                <a:srgbClr val="565656"/>
              </a:solidFill>
              <a:effectLst/>
              <a:latin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855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en LinkedIn was young: the early years">
            <a:extLst>
              <a:ext uri="{FF2B5EF4-FFF2-40B4-BE49-F238E27FC236}">
                <a16:creationId xmlns:a16="http://schemas.microsoft.com/office/drawing/2014/main" id="{BAA90DEB-7CF2-D989-36A5-7B00DF5A9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ight years old today! Happy Birthday to Moodle! | Moodle Helen">
            <a:extLst>
              <a:ext uri="{FF2B5EF4-FFF2-40B4-BE49-F238E27FC236}">
                <a16:creationId xmlns:a16="http://schemas.microsoft.com/office/drawing/2014/main" id="{C3E40652-DC68-0E42-3749-64CBBD860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2959"/>
            <a:ext cx="9175934" cy="614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90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5C1C66-D62A-DFAB-DF1D-CE935996B8E6}"/>
              </a:ext>
            </a:extLst>
          </p:cNvPr>
          <p:cNvSpPr txBox="1"/>
          <p:nvPr/>
        </p:nvSpPr>
        <p:spPr>
          <a:xfrm>
            <a:off x="684891" y="5113447"/>
            <a:ext cx="83265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Bonus: Sometimes the MVP IS the product.</a:t>
            </a:r>
            <a:endParaRPr lang="en-US" sz="2800" b="1" i="0" dirty="0">
              <a:solidFill>
                <a:srgbClr val="565656"/>
              </a:solidFill>
              <a:effectLst/>
              <a:latin typeface="Roboto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030CFA-D59C-06A0-33EB-1866F356B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02" y="450416"/>
            <a:ext cx="5412798" cy="447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152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D2241-5B70-1F96-1627-9C49CD205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07428-4E28-84EA-C58A-1882385A3F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1" y="1110957"/>
            <a:ext cx="7483763" cy="4541697"/>
          </a:xfrm>
        </p:spPr>
        <p:txBody>
          <a:bodyPr>
            <a:normAutofit fontScale="92500" lnSpcReduction="10000"/>
          </a:bodyPr>
          <a:lstStyle/>
          <a:p>
            <a:pPr>
              <a:buAutoNum type="arabicPeriod"/>
            </a:pPr>
            <a:r>
              <a:rPr lang="en-US" sz="1800" dirty="0"/>
              <a:t>Consider your solution.  What type of MVP could you create to help demo your idea to users and get better feedback?  Brainstorm 5 ideas about how your MVP could look/act/feel.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Spotify: Sketch idea on paper</a:t>
            </a:r>
          </a:p>
          <a:p>
            <a:pPr marL="0" indent="0">
              <a:buNone/>
            </a:pPr>
            <a:r>
              <a:rPr lang="en-US" sz="1800" dirty="0"/>
              <a:t>Crumble Cookies: Setup taste testing table on campus or at truck stops.</a:t>
            </a:r>
          </a:p>
          <a:p>
            <a:pPr marL="0" indent="0">
              <a:buNone/>
            </a:pPr>
            <a:r>
              <a:rPr lang="en-US" sz="1800" dirty="0"/>
              <a:t>Bayern: Setup brewing at the Iron Horse.</a:t>
            </a:r>
          </a:p>
          <a:p>
            <a:pPr marL="0" indent="0">
              <a:buNone/>
            </a:pPr>
            <a:r>
              <a:rPr lang="en-US" sz="1800" dirty="0"/>
              <a:t>Setup table at Out to Lunch</a:t>
            </a:r>
          </a:p>
          <a:p>
            <a:pPr marL="0" indent="0">
              <a:buNone/>
            </a:pPr>
            <a:r>
              <a:rPr lang="en-US" sz="1800" dirty="0"/>
              <a:t>Setup pilot at Whitefish Credit Union	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+mj-lt"/>
              <a:buAutoNum type="arabicPeriod" startAt="2"/>
            </a:pPr>
            <a:r>
              <a:rPr lang="en-US" sz="1800" dirty="0"/>
              <a:t>Go through your list and select one MVP that you think is most feasible: it can be built quickly and get you some type of important feedback required for moving your idea forward (usability, demand, verifying problem, etc.). </a:t>
            </a:r>
          </a:p>
          <a:p>
            <a:pPr>
              <a:buFont typeface="+mj-lt"/>
              <a:buAutoNum type="arabicPeriod" startAt="2"/>
            </a:pPr>
            <a:r>
              <a:rPr lang="en-US" sz="1800" dirty="0"/>
              <a:t>Discuss your proposed MVP with a partner. We will share our ideas with the workshop.</a:t>
            </a:r>
          </a:p>
          <a:p>
            <a:pPr>
              <a:buAutoNum type="arabicPeriod" startAt="2"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C951AD-E0C6-F997-5335-4DB4C3E48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424943"/>
            <a:ext cx="672465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Designing Your MVP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91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Your homework: Develop a simple MVP. 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0" dirty="0"/>
              <a:t>What does your solution do? What problem does it solve?</a:t>
            </a:r>
          </a:p>
          <a:p>
            <a:r>
              <a:rPr lang="en-US" sz="2000" b="0" dirty="0"/>
              <a:t>Create an MVP using sketches, design software, handouts, a pilot, a small gathering of people, a test meetup, etc. </a:t>
            </a:r>
          </a:p>
          <a:p>
            <a:r>
              <a:rPr lang="en-US" sz="2000" b="0" dirty="0"/>
              <a:t>Demo your MVP to 5-7 potential users. Document their reactions. Show them the purpose of your solution and be sure to explain the problem it solves.  </a:t>
            </a:r>
            <a:r>
              <a:rPr lang="en-US" sz="2000" u="sng" dirty="0"/>
              <a:t>Document anything that surprises you.</a:t>
            </a:r>
          </a:p>
          <a:p>
            <a:r>
              <a:rPr lang="en-US" sz="2000" b="0" dirty="0"/>
              <a:t>Report back to the workshop next </a:t>
            </a:r>
            <a:r>
              <a:rPr lang="en-US" sz="2000" u="sng" dirty="0"/>
              <a:t>Tuesday</a:t>
            </a:r>
            <a:r>
              <a:rPr lang="en-US" sz="2000" b="0" dirty="0"/>
              <a:t> with your results.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Customer Discovery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16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3809</TotalTime>
  <Words>741</Words>
  <Application>Microsoft Office PowerPoint</Application>
  <PresentationFormat>On-screen Show (4:3)</PresentationFormat>
  <Paragraphs>79</Paragraphs>
  <Slides>26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Georgia</vt:lpstr>
      <vt:lpstr>Neue Helvetica W01</vt:lpstr>
      <vt:lpstr>Roboto</vt:lpstr>
      <vt:lpstr>Office Theme</vt:lpstr>
      <vt:lpstr>2_Office Theme</vt:lpstr>
      <vt:lpstr>PowerPoint Presentation</vt:lpstr>
      <vt:lpstr>Schedule</vt:lpstr>
      <vt:lpstr>PowerPoint Presentation</vt:lpstr>
      <vt:lpstr>PowerPoint Presentation</vt:lpstr>
      <vt:lpstr>PowerPoint Presentation</vt:lpstr>
      <vt:lpstr>Product Development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Designing Your MVP </vt:lpstr>
      <vt:lpstr>Customer Discovery 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Interview Template</dc:title>
  <dc:creator>David Charron</dc:creator>
  <cp:lastModifiedBy>Guzik, Erik</cp:lastModifiedBy>
  <cp:revision>76</cp:revision>
  <cp:lastPrinted>2022-09-27T00:47:37Z</cp:lastPrinted>
  <dcterms:created xsi:type="dcterms:W3CDTF">2015-07-16T21:14:46Z</dcterms:created>
  <dcterms:modified xsi:type="dcterms:W3CDTF">2025-11-19T23:59:00Z</dcterms:modified>
</cp:coreProperties>
</file>